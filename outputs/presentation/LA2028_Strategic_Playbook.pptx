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85C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0"/>
            <a:ext cx="12188952" cy="384048"/>
          </a:xfrm>
          <a:prstGeom prst="rect">
            <a:avLst/>
          </a:prstGeom>
          <a:solidFill>
            <a:srgbClr val="F4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13248"/>
            <a:ext cx="12188952" cy="384048"/>
          </a:xfrm>
          <a:prstGeom prst="rect">
            <a:avLst/>
          </a:prstGeom>
          <a:solidFill>
            <a:srgbClr val="009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797296"/>
            <a:ext cx="12188952" cy="384048"/>
          </a:xfrm>
          <a:prstGeom prst="rect">
            <a:avLst/>
          </a:prstGeom>
          <a:solidFill>
            <a:srgbClr val="DF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"/>
              </a:rPr>
              <a:t>LA 2028 Olympic Games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4C300"/>
                </a:solidFill>
                <a:latin typeface="Arial"/>
              </a:rPr>
              <a:t>STRATEGIC PLAYBOOK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38328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DEE"/>
                </a:solidFill>
                <a:latin typeface="Arial"/>
              </a:rPr>
              <a:t>Data-Driven Intelligence for Athletes, the City of LA &amp; National Olympic Committees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BBCC"/>
                </a:solidFill>
                <a:latin typeface="Arial"/>
              </a:rPr>
              <a:t>Prepared by SportsFanatics Consulting Agency  |  March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4922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CC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75120"/>
            <a:ext cx="10058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C757D"/>
                </a:solidFill>
                <a:latin typeface="Arial"/>
              </a:rPr>
              <a:t>CONFIDENTIAL  |  SportsFanatics Consulting Agency  |  LA 2028 Strategic Playbook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502920" cy="502920"/>
          </a:xfrm>
          <a:prstGeom prst="rect">
            <a:avLst/>
          </a:prstGeom>
          <a:solidFill>
            <a:srgbClr val="008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9601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30759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  <a:latin typeface="Arial"/>
              </a:rPr>
              <a:t>Key findings and headline metrics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31720"/>
            <a:ext cx="502920" cy="502920"/>
          </a:xfrm>
          <a:prstGeom prst="rect">
            <a:avLst/>
          </a:prstGeom>
          <a:solidFill>
            <a:srgbClr val="DF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4048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3317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The Data Foundation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679191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  <a:latin typeface="Arial"/>
              </a:rPr>
              <a:t>271K athlete records across 120 years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03320"/>
            <a:ext cx="502920" cy="502920"/>
          </a:xfrm>
          <a:prstGeom prst="rect">
            <a:avLst/>
          </a:prstGeom>
          <a:solidFill>
            <a:srgbClr val="009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7764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7033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Pillar 1 — The Athlete Edge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050791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  <a:latin typeface="Arial"/>
              </a:rPr>
              <a:t>Trends, gender equity, home advantage, new sports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074920"/>
            <a:ext cx="502920" cy="502920"/>
          </a:xfrm>
          <a:prstGeom prst="rect">
            <a:avLst/>
          </a:prstGeom>
          <a:solidFill>
            <a:srgbClr val="F4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51480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0749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Pillar 2 — The City Playbook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42239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  <a:latin typeface="Arial"/>
              </a:rPr>
              <a:t>Costs, legacy planning, venue readiness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960120"/>
            <a:ext cx="502920" cy="502920"/>
          </a:xfrm>
          <a:prstGeom prst="rect">
            <a:avLst/>
          </a:prstGeom>
          <a:solidFill>
            <a:srgbClr val="008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10332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9601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Pillar 3 — NOC Intelligence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130759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  <a:latin typeface="Arial"/>
              </a:rPr>
              <a:t>Medal rankings, geography, geopolitics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80" y="2331720"/>
            <a:ext cx="502920" cy="502920"/>
          </a:xfrm>
          <a:prstGeom prst="rect">
            <a:avLst/>
          </a:prstGeom>
          <a:solidFill>
            <a:srgbClr val="DF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24048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3317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Medal Forecasting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2679191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  <a:latin typeface="Arial"/>
              </a:rPr>
              <a:t>ML predictions for LA 2028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80" y="3703320"/>
            <a:ext cx="502920" cy="502920"/>
          </a:xfrm>
          <a:prstGeom prst="rect">
            <a:avLst/>
          </a:prstGeom>
          <a:solidFill>
            <a:srgbClr val="009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37764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7033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Strategic Recommendations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050791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  <a:latin typeface="Arial"/>
              </a:rPr>
              <a:t>Action plans for all three stakeholder groups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5074920"/>
            <a:ext cx="502920" cy="502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51480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50749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Methodology &amp; Appendix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542239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  <a:latin typeface="Arial"/>
              </a:rPr>
              <a:t>Data sources, model notes, chart index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75120"/>
            <a:ext cx="10058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C757D"/>
                </a:solidFill>
                <a:latin typeface="Arial"/>
              </a:rPr>
              <a:t>CONFIDENTIAL  |  SportsFanatics Consulting Agency  |  LA 2028 Strategic Playbook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2651760" cy="1600200"/>
          </a:xfrm>
          <a:prstGeom prst="rect">
            <a:avLst/>
          </a:prstGeom>
          <a:solidFill>
            <a:srgbClr val="008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"/>
              </a:rPr>
              <a:t>271K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Athlete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7568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1896–2016 | 120 years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914400"/>
            <a:ext cx="2651760" cy="1600200"/>
          </a:xfrm>
          <a:prstGeom prst="rect">
            <a:avLst/>
          </a:prstGeom>
          <a:solidFill>
            <a:srgbClr val="DF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0515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"/>
              </a:rPr>
              <a:t>277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69164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USA 2028 Forecast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07568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Predicted total medals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914400"/>
            <a:ext cx="2651760" cy="1600200"/>
          </a:xfrm>
          <a:prstGeom prst="rect">
            <a:avLst/>
          </a:prstGeom>
          <a:solidFill>
            <a:srgbClr val="009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10515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"/>
              </a:rPr>
              <a:t>$6.9B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169164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LA 2028 Budget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07568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Most fiscally lean since 1984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914400"/>
            <a:ext cx="2651760" cy="1600200"/>
          </a:xfrm>
          <a:prstGeom prst="rect">
            <a:avLst/>
          </a:prstGeom>
          <a:solidFill>
            <a:srgbClr val="F4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10515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"/>
              </a:rPr>
              <a:t>45%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169164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Women Athletes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07568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Up from 9% in 1952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788920"/>
            <a:ext cx="91440" cy="1463040"/>
          </a:xfrm>
          <a:prstGeom prst="rect">
            <a:avLst/>
          </a:prstGeom>
          <a:solidFill>
            <a:srgbClr val="008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27889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5C7"/>
                </a:solidFill>
                <a:latin typeface="Arial"/>
              </a:rPr>
              <a:t>Pillar 1 — Athlete Edge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320040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 b="0">
                <a:solidFill>
                  <a:srgbClr val="333333"/>
                </a:solidFill>
                <a:latin typeface="Arial"/>
              </a:rPr>
              <a:t>→ Home advantage delivers +22.8% medal uplift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333333"/>
                </a:solidFill>
                <a:latin typeface="Arial"/>
              </a:rPr>
              <a:t>→ Women now 45% of athletes (1984: 23%)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333333"/>
                </a:solidFill>
                <a:latin typeface="Arial"/>
              </a:rPr>
              <a:t>→ 4 new sports at 2028: flag football, cricket, lacrosse, squash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9392" y="2788920"/>
            <a:ext cx="91440" cy="1463040"/>
          </a:xfrm>
          <a:prstGeom prst="rect">
            <a:avLst/>
          </a:prstGeom>
          <a:solidFill>
            <a:srgbClr val="009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43984" y="27889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F6B"/>
                </a:solidFill>
                <a:latin typeface="Arial"/>
              </a:rPr>
              <a:t>Pillar 2 — City Playbook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43984" y="320040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 b="0">
                <a:solidFill>
                  <a:srgbClr val="333333"/>
                </a:solidFill>
                <a:latin typeface="Arial"/>
              </a:rPr>
              <a:t>→ LA 2028 cost ~$6.9B — most disciplined since LA 1984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333333"/>
                </a:solidFill>
                <a:latin typeface="Arial"/>
              </a:rPr>
              <a:t>→ 84% of venues already built — no new construction needed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333333"/>
                </a:solidFill>
                <a:latin typeface="Arial"/>
              </a:rPr>
              <a:t>→ Forecasting a profitable Games (LA 1984 returned $215M)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93024" y="2788920"/>
            <a:ext cx="91440" cy="1463040"/>
          </a:xfrm>
          <a:prstGeom prst="rect">
            <a:avLst/>
          </a:prstGeom>
          <a:solidFill>
            <a:srgbClr val="DF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57616" y="27889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F0024"/>
                </a:solidFill>
                <a:latin typeface="Arial"/>
              </a:rPr>
              <a:t>Pillar 3 — NOC Intelligence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7616" y="320040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 b="0">
                <a:solidFill>
                  <a:srgbClr val="333333"/>
                </a:solidFill>
                <a:latin typeface="Arial"/>
              </a:rPr>
              <a:t>→ Europe holds 59.2% of all-time Olympic medals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333333"/>
                </a:solidFill>
                <a:latin typeface="Arial"/>
              </a:rPr>
              <a:t>→ China narrowing gap with USA — rivalry intensifies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333333"/>
                </a:solidFill>
                <a:latin typeface="Arial"/>
              </a:rPr>
              <a:t>→ Africa: 27 medal-winning NOCs with growing participation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The Data Foundation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75120"/>
            <a:ext cx="10058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C757D"/>
                </a:solidFill>
                <a:latin typeface="Arial"/>
              </a:rPr>
              <a:t>CONFIDENTIAL  |  SportsFanatics Consulting Agency  |  LA 2028 Strategic Playbook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606040" cy="109728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07007"/>
            <a:ext cx="2606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85C7"/>
                </a:solidFill>
                <a:latin typeface="Arial"/>
              </a:rPr>
              <a:t>271,116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5564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7D"/>
                </a:solidFill>
                <a:latin typeface="Arial"/>
              </a:rPr>
              <a:t>Total athlete records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514600"/>
            <a:ext cx="2606040" cy="109728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624328"/>
            <a:ext cx="2606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85C7"/>
                </a:solidFill>
                <a:latin typeface="Arial"/>
              </a:rPr>
              <a:t>135,571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17296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7D"/>
                </a:solidFill>
                <a:latin typeface="Arial"/>
              </a:rPr>
              <a:t>Unique athletes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931920"/>
            <a:ext cx="2606040" cy="109728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4041648"/>
            <a:ext cx="2606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85C7"/>
                </a:solidFill>
                <a:latin typeface="Arial"/>
              </a:rPr>
              <a:t>230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59028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7D"/>
                </a:solidFill>
                <a:latin typeface="Arial"/>
              </a:rPr>
              <a:t>NOCs represented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1097280"/>
            <a:ext cx="2606040" cy="109728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1207007"/>
            <a:ext cx="2606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85C7"/>
                </a:solidFill>
                <a:latin typeface="Arial"/>
              </a:rPr>
              <a:t>66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175564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7D"/>
                </a:solidFill>
                <a:latin typeface="Arial"/>
              </a:rPr>
              <a:t>Sports tracked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2514600"/>
            <a:ext cx="2606040" cy="109728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2624328"/>
            <a:ext cx="2606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85C7"/>
                </a:solidFill>
                <a:latin typeface="Arial"/>
              </a:rPr>
              <a:t>765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17296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7D"/>
                </a:solidFill>
                <a:latin typeface="Arial"/>
              </a:rPr>
              <a:t>Unique events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3931920"/>
            <a:ext cx="2606040" cy="109728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0" y="4041648"/>
            <a:ext cx="2606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85C7"/>
                </a:solidFill>
                <a:latin typeface="Arial"/>
              </a:rPr>
              <a:t>120 yrs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459028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7D"/>
                </a:solidFill>
                <a:latin typeface="Arial"/>
              </a:rPr>
              <a:t>1896 – 2016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109728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5C7"/>
                </a:solidFill>
                <a:latin typeface="Arial"/>
              </a:rPr>
              <a:t>Data Quality Notes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1572768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 b="0">
                <a:solidFill>
                  <a:srgbClr val="333333"/>
                </a:solidFill>
                <a:latin typeface="Arial"/>
              </a:rPr>
              <a:t>• Source: Kaggle — 120 Years of Olympic History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333333"/>
                </a:solidFill>
                <a:latin typeface="Arial"/>
              </a:rPr>
              <a:t>• Medal null rate: 85.3% (most athletes do not medal — expected)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333333"/>
                </a:solidFill>
                <a:latin typeface="Arial"/>
              </a:rPr>
              <a:t>• Weight missing: 23.2%  |  Height missing: 22.2%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333333"/>
                </a:solidFill>
                <a:latin typeface="Arial"/>
              </a:rPr>
              <a:t>• Age missing: 3.5%  |  No duplicate athlete-event rows found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333333"/>
                </a:solidFill>
                <a:latin typeface="Arial"/>
              </a:rPr>
              <a:t>• NOC coverage: 229/230 codes mapped via noc_regions.csv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333333"/>
                </a:solidFill>
                <a:latin typeface="Arial"/>
              </a:rPr>
              <a:t>• Summer Games only used for the medal forecasting model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333333"/>
                </a:solidFill>
                <a:latin typeface="Arial"/>
              </a:rPr>
              <a:t>• All analyses fully reproducible via notebooks 01–07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333333"/>
                </a:solidFill>
                <a:latin typeface="Arial"/>
              </a:rPr>
              <a:t/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333333"/>
                </a:solidFill>
                <a:latin typeface="Arial"/>
              </a:rPr>
              <a:t>• noc_regions.csv added to enable geographic aggregation: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333333"/>
                </a:solidFill>
                <a:latin typeface="Arial"/>
              </a:rPr>
              <a:t>  — 207 unique country/region names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333333"/>
                </a:solidFill>
                <a:latin typeface="Arial"/>
              </a:rPr>
              <a:t>  — Continental grouping: Europe, Americas, Asia, Africa, Oceania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85C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"/>
              </a:rPr>
              <a:t>Pillar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37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CCEE"/>
                </a:solidFill>
                <a:latin typeface="Arial"/>
              </a:rPr>
              <a:t>The Athlete 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519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AEC0"/>
                </a:solidFill>
                <a:latin typeface="Arial"/>
              </a:rPr>
              <a:t>Performance trends  |  Gender equity  |  Home advantage  |  New sports for LA 2028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8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Gender Equity — A 70-Year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371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Arial"/>
              </a:rPr>
              <a:t>Pillar 1 | Athletes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75120"/>
            <a:ext cx="10058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C757D"/>
                </a:solidFill>
                <a:latin typeface="Arial"/>
              </a:rPr>
              <a:t>CONFIDENTIAL  |  SportsFanatics Consulting Agency  |  LA 2028 Strategic Playbook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685800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52360" y="960120"/>
            <a:ext cx="4434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 b="0">
                <a:solidFill>
                  <a:srgbClr val="222222"/>
                </a:solidFill>
                <a:latin typeface="Arial"/>
              </a:rPr>
              <a:t>📊 Key Insights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222222"/>
                </a:solidFill>
                <a:latin typeface="Arial"/>
              </a:rPr>
              <a:t>• Women grew from 9% of athletes (1952) to 45% (2016)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222222"/>
                </a:solidFill>
                <a:latin typeface="Arial"/>
              </a:rPr>
              <a:t>• Every sport now has mixed or women-only events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222222"/>
                </a:solidFill>
                <a:latin typeface="Arial"/>
              </a:rPr>
              <a:t>• 2020 Tokyo reached near parity at 48.8% female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222222"/>
                </a:solidFill>
                <a:latin typeface="Arial"/>
              </a:rPr>
              <a:t>• LA 2028 IOC target: full 50/50 gender balance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222222"/>
                </a:solidFill>
                <a:latin typeface="Arial"/>
              </a:rPr>
              <a:t/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222222"/>
                </a:solidFill>
                <a:latin typeface="Arial"/>
              </a:rPr>
              <a:t>🎯 Recommendations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222222"/>
                </a:solidFill>
                <a:latin typeface="Arial"/>
              </a:rPr>
              <a:t>• Invest in training facilities for women athletes in new 2028 sports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222222"/>
                </a:solidFill>
                <a:latin typeface="Arial"/>
              </a:rPr>
              <a:t>• Flag football and cricket womens programmes: highest-ROI opportunity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222222"/>
                </a:solidFill>
                <a:latin typeface="Arial"/>
              </a:rPr>
              <a:t>• Gender-specific heat/altitude protocols for LA outdoor venues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8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Home Nation Advantage — The LA Effect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371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Arial"/>
              </a:rPr>
              <a:t>Pillar 1 | Athletes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75120"/>
            <a:ext cx="10058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C757D"/>
                </a:solidFill>
                <a:latin typeface="Arial"/>
              </a:rPr>
              <a:t>CONFIDENTIAL  |  SportsFanatics Consulting Agency  |  LA 2028 Strategic Playbook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2651760" cy="1463040"/>
          </a:xfrm>
          <a:prstGeom prst="rect">
            <a:avLst/>
          </a:prstGeom>
          <a:solidFill>
            <a:srgbClr val="DF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15568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+22.8%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0992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Avg medal uplift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031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for all host nations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005840"/>
            <a:ext cx="2651760" cy="1463040"/>
          </a:xfrm>
          <a:prstGeom prst="rect">
            <a:avLst/>
          </a:prstGeom>
          <a:solidFill>
            <a:srgbClr val="008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1115568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83 Gold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70992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USA at LA 1984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1031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Best host performance ever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005840"/>
            <a:ext cx="2651760" cy="1463040"/>
          </a:xfrm>
          <a:prstGeom prst="rect">
            <a:avLst/>
          </a:prstGeom>
          <a:solidFill>
            <a:srgbClr val="009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1115568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4 of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170992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Post-1984 hosts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1031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won their most golds ever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1005840"/>
            <a:ext cx="2651760" cy="1463040"/>
          </a:xfrm>
          <a:prstGeom prst="rect">
            <a:avLst/>
          </a:prstGeom>
          <a:solidFill>
            <a:srgbClr val="F4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1115568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2028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170992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Next USA home Games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21031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Model predicts 277 medals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834640"/>
            <a:ext cx="11247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 b="0">
                <a:solidFill>
                  <a:srgbClr val="333333"/>
                </a:solidFill>
                <a:latin typeface="Arial"/>
              </a:rPr>
              <a:t>→ Host advantage is strongest in individual sports: athletics, swimming, gymnastics, combat sports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333333"/>
                </a:solidFill>
                <a:latin typeface="Arial"/>
              </a:rPr>
              <a:t>→ Home crowd effect, familiar climate, minimal travel fatigue all contribute to the uplift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333333"/>
                </a:solidFill>
                <a:latin typeface="Arial"/>
              </a:rPr>
              <a:t>→ LA 2028 model projects USA at 277 total medals — 13 more than at Rio 2016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333333"/>
                </a:solidFill>
                <a:latin typeface="Arial"/>
              </a:rPr>
              <a:t>→ Recommend US NOC: invest in marginal sports where home-ground effect is statistically largest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333333"/>
                </a:solidFill>
                <a:latin typeface="Arial"/>
              </a:rPr>
              <a:t>→ Other NOCs: LA geography favours warm-climate nations — Africa, Caribbean, South/Central America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9F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"/>
              </a:rPr>
              <a:t>Pillar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37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DDCC"/>
                </a:solidFill>
                <a:latin typeface="Arial"/>
              </a:rPr>
              <a:t>The City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519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BBAA"/>
                </a:solidFill>
                <a:latin typeface="Arial"/>
              </a:rPr>
              <a:t>Host city benchmarking  |  Costs &amp; legacy  |  LA venue readiness  |  Sustainability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9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Host City Cost Benchmarking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371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Arial"/>
              </a:rPr>
              <a:t>Pillar 2 | City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75120"/>
            <a:ext cx="10058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C757D"/>
                </a:solidFill>
                <a:latin typeface="Arial"/>
              </a:rPr>
              <a:t>CONFIDENTIAL  |  SportsFanatics Consulting Agency  |  LA 2028 Strategic Playbook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68580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79" y="960120"/>
            <a:ext cx="4434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 b="0">
                <a:solidFill>
                  <a:srgbClr val="222222"/>
                </a:solidFill>
                <a:latin typeface="Arial"/>
              </a:rPr>
              <a:t>💰 Key Findings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222222"/>
                </a:solidFill>
                <a:latin typeface="Arial"/>
              </a:rPr>
              <a:t>• LA 2028 projected at ~$6.9B — lowest cost in 3 decades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222222"/>
                </a:solidFill>
                <a:latin typeface="Arial"/>
              </a:rPr>
              <a:t>• 84% of venues are existing infrastructure (no new builds)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222222"/>
                </a:solidFill>
                <a:latin typeface="Arial"/>
              </a:rPr>
              <a:t>• Beijing 2008 remains costliest ever at $42B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222222"/>
                </a:solidFill>
                <a:latin typeface="Arial"/>
              </a:rPr>
              <a:t>• Tokyo 2020 overran budget by $13B due to COVID delays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222222"/>
                </a:solidFill>
                <a:latin typeface="Arial"/>
              </a:rPr>
              <a:t>• LA 1984 returned a $215M profit — the template for 2028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222222"/>
                </a:solidFill>
                <a:latin typeface="Arial"/>
              </a:rPr>
              <a:t/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222222"/>
                </a:solidFill>
                <a:latin typeface="Arial"/>
              </a:rPr>
              <a:t>🏆 LA 2028 Structural Advantages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222222"/>
                </a:solidFill>
                <a:latin typeface="Arial"/>
              </a:rPr>
              <a:t>• Private funding model — zero taxpayer liability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222222"/>
                </a:solidFill>
                <a:latin typeface="Arial"/>
              </a:rPr>
              <a:t>• Climate: perfect July/August conditions (avg 27°C / 81°F)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222222"/>
                </a:solidFill>
                <a:latin typeface="Arial"/>
              </a:rPr>
              <a:t>• Entertainment/media hub: sponsorship upside is significant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222222"/>
                </a:solidFill>
                <a:latin typeface="Arial"/>
              </a:rPr>
              <a:t>• SoFi Stadium &amp; Crypto.com Arena = world-class facilities already operational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9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LA 2028 Venue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371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Arial"/>
              </a:rPr>
              <a:t>Pillar 2 | City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75120"/>
            <a:ext cx="10058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C757D"/>
                </a:solidFill>
                <a:latin typeface="Arial"/>
              </a:rPr>
              <a:t>CONFIDENTIAL  |  SportsFanatics Consulting Agency  |  LA 2028 Strategic Playbook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2651760" cy="1325880"/>
          </a:xfrm>
          <a:prstGeom prst="rect">
            <a:avLst/>
          </a:prstGeom>
          <a:solidFill>
            <a:srgbClr val="009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7335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Competition Venues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3911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Across Greater LA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005840"/>
            <a:ext cx="2651760" cy="1325880"/>
          </a:xfrm>
          <a:prstGeom prst="rect">
            <a:avLst/>
          </a:prstGeom>
          <a:solidFill>
            <a:srgbClr val="008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10972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84%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67335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Existing Venues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03911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Zero new construction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005840"/>
            <a:ext cx="2651760" cy="1325880"/>
          </a:xfrm>
          <a:prstGeom prst="rect">
            <a:avLst/>
          </a:prstGeom>
          <a:solidFill>
            <a:srgbClr val="DF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10972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100K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167335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SoFi Stadium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03911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Opening ceremony capacity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1005840"/>
            <a:ext cx="2651760" cy="1325880"/>
          </a:xfrm>
          <a:prstGeom prst="rect">
            <a:avLst/>
          </a:prstGeom>
          <a:solidFill>
            <a:srgbClr val="F4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10972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17K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167335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Crypto.com Arena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203911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Basketball / Boxing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6517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F6B"/>
                </a:solidFill>
                <a:latin typeface="Arial"/>
              </a:rPr>
              <a:t>Key Venues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127248"/>
            <a:ext cx="3703320" cy="1078992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191256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F6B"/>
                </a:solidFill>
                <a:latin typeface="Arial"/>
              </a:rPr>
              <a:t>SoFi Stadium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584448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  <a:latin typeface="Arial"/>
              </a:rPr>
              <a:t>Inglewood  |  Ceremonies, Athletics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79392" y="3127248"/>
            <a:ext cx="3703320" cy="1078992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16552" y="3191256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F6B"/>
                </a:solidFill>
                <a:latin typeface="Arial"/>
              </a:rPr>
              <a:t>Crypto.com Arena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6552" y="3584448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  <a:latin typeface="Arial"/>
              </a:rPr>
              <a:t>Downtown LA  |  Basketball, Boxing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93024" y="3127248"/>
            <a:ext cx="3703320" cy="1078992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4" y="3191256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F6B"/>
                </a:solidFill>
                <a:latin typeface="Arial"/>
              </a:rPr>
              <a:t>Rose Bowl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0184" y="3584448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  <a:latin typeface="Arial"/>
              </a:rPr>
              <a:t>Pasadena  |  Football (Soccer)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480560"/>
            <a:ext cx="3703320" cy="1078992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54456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F6B"/>
                </a:solidFill>
                <a:latin typeface="Arial"/>
              </a:rPr>
              <a:t>Dignity Health Sports Park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93776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  <a:latin typeface="Arial"/>
              </a:rPr>
              <a:t>Carson  |  Field Hockey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79392" y="4480560"/>
            <a:ext cx="3703320" cy="1078992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16552" y="454456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F6B"/>
                </a:solidFill>
                <a:latin typeface="Arial"/>
              </a:rPr>
              <a:t>Long Beach Arena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16552" y="493776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  <a:latin typeface="Arial"/>
              </a:rPr>
              <a:t>Long Beach  |  Volleyball, Judo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93024" y="4480560"/>
            <a:ext cx="3703320" cy="1078992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30184" y="454456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F6B"/>
                </a:solidFill>
                <a:latin typeface="Arial"/>
              </a:rPr>
              <a:t>UCLA Campus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30184" y="493776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757D"/>
                </a:solidFill>
                <a:latin typeface="Arial"/>
              </a:rPr>
              <a:t>Westwood  |  Olympic Village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"/>
              </a:rPr>
              <a:t>Pillar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37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CCCC"/>
                </a:solidFill>
                <a:latin typeface="Arial"/>
              </a:rPr>
              <a:t>NOC Intelligence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519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AAAA"/>
                </a:solidFill>
                <a:latin typeface="Arial"/>
              </a:rPr>
              <a:t>Medal rankings  |  Geographic analysis  |  US-China rivalry  |  Emerging nations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DF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All-Time Olympic Medal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371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Arial"/>
              </a:rPr>
              <a:t>Pillar 3 | NOCs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75120"/>
            <a:ext cx="10058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C757D"/>
                </a:solidFill>
                <a:latin typeface="Arial"/>
              </a:rPr>
              <a:t>CONFIDENTIAL  |  SportsFanatics Consulting Agency  |  LA 2028 Strategic Playbook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68580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79" y="960120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F0024"/>
                </a:solidFill>
                <a:latin typeface="Arial"/>
              </a:rPr>
              <a:t>Top 10 — All-Time Medals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1417320"/>
            <a:ext cx="310896" cy="320040"/>
          </a:xfrm>
          <a:prstGeom prst="rect">
            <a:avLst/>
          </a:prstGeom>
          <a:solidFill>
            <a:srgbClr val="DF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25511" y="146304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#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1417320"/>
            <a:ext cx="1719072" cy="320040"/>
          </a:xfrm>
          <a:prstGeom prst="rect">
            <a:avLst/>
          </a:prstGeom>
          <a:solidFill>
            <a:srgbClr val="DF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91271" y="1463040"/>
            <a:ext cx="168249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Country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46920" y="1417320"/>
            <a:ext cx="603503" cy="320040"/>
          </a:xfrm>
          <a:prstGeom prst="rect">
            <a:avLst/>
          </a:prstGeom>
          <a:solidFill>
            <a:srgbClr val="DF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74352" y="1463040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Gold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314432" y="1417320"/>
            <a:ext cx="649224" cy="320040"/>
          </a:xfrm>
          <a:prstGeom prst="rect">
            <a:avLst/>
          </a:prstGeom>
          <a:solidFill>
            <a:srgbClr val="DF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41863" y="1463040"/>
            <a:ext cx="6126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Silver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018520" y="1417320"/>
            <a:ext cx="1042415" cy="320040"/>
          </a:xfrm>
          <a:prstGeom prst="rect">
            <a:avLst/>
          </a:prstGeom>
          <a:solidFill>
            <a:srgbClr val="DF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1463040"/>
            <a:ext cx="1005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Total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1737360"/>
            <a:ext cx="310896" cy="3657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34655" y="179222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  <a:latin typeface="Arial"/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0" y="1737360"/>
            <a:ext cx="1719072" cy="3657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0415" y="1792224"/>
            <a:ext cx="16824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Arial"/>
              </a:rPr>
              <a:t>USA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1737360"/>
            <a:ext cx="603503" cy="3657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83496" y="1792224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  <a:latin typeface="Arial"/>
              </a:rPr>
              <a:t>2,472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314432" y="1737360"/>
            <a:ext cx="649224" cy="3657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51007" y="1792224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  <a:latin typeface="Arial"/>
              </a:rPr>
              <a:t>1,333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018520" y="1737360"/>
            <a:ext cx="1042415" cy="3657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055096" y="1792224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  <a:latin typeface="Arial"/>
              </a:rPr>
              <a:t>5,002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79" y="2121408"/>
            <a:ext cx="310896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34655" y="217627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  <a:latin typeface="Arial"/>
              </a:rP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63840" y="2121408"/>
            <a:ext cx="171907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00415" y="2176272"/>
            <a:ext cx="16824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Arial"/>
              </a:rPr>
              <a:t>Russia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46920" y="2121408"/>
            <a:ext cx="603503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83496" y="2176272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  <a:latin typeface="Arial"/>
              </a:rPr>
              <a:t>832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314432" y="2121408"/>
            <a:ext cx="64922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51007" y="2176272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  <a:latin typeface="Arial"/>
              </a:rPr>
              <a:t>635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018520" y="2121408"/>
            <a:ext cx="104241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055096" y="2176272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  <a:latin typeface="Arial"/>
              </a:rPr>
              <a:t>2,063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79" y="2505456"/>
            <a:ext cx="310896" cy="3657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34655" y="2560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  <a:latin typeface="Arial"/>
              </a:rPr>
              <a:t>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63840" y="2505456"/>
            <a:ext cx="1719072" cy="3657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00415" y="2560320"/>
            <a:ext cx="16824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Arial"/>
              </a:rPr>
              <a:t>UK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46920" y="2505456"/>
            <a:ext cx="603503" cy="3657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83496" y="2560320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  <a:latin typeface="Arial"/>
              </a:rPr>
              <a:t>636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314432" y="2505456"/>
            <a:ext cx="649224" cy="3657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51007" y="2560320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  <a:latin typeface="Arial"/>
              </a:rPr>
              <a:t>729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018520" y="2505456"/>
            <a:ext cx="1042415" cy="3657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055096" y="2560320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  <a:latin typeface="Arial"/>
              </a:rPr>
              <a:t>1,985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98079" y="2889504"/>
            <a:ext cx="310896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34655" y="29443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  <a:latin typeface="Arial"/>
              </a:rPr>
              <a:t>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63840" y="2889504"/>
            <a:ext cx="171907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00415" y="2944368"/>
            <a:ext cx="16824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Arial"/>
              </a:rPr>
              <a:t>Germany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20" y="2889504"/>
            <a:ext cx="603503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83496" y="2944368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  <a:latin typeface="Arial"/>
              </a:rPr>
              <a:t>592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314432" y="2889504"/>
            <a:ext cx="64922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351007" y="2944368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  <a:latin typeface="Arial"/>
              </a:rPr>
              <a:t>538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018520" y="2889504"/>
            <a:ext cx="104241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055096" y="2944368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  <a:latin typeface="Arial"/>
              </a:rPr>
              <a:t>1,779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498079" y="3273552"/>
            <a:ext cx="310896" cy="3657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534655" y="332841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  <a:latin typeface="Arial"/>
              </a:rPr>
              <a:t>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63840" y="3273552"/>
            <a:ext cx="1719072" cy="3657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900415" y="3328416"/>
            <a:ext cx="16824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Arial"/>
              </a:rPr>
              <a:t>France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646920" y="3273552"/>
            <a:ext cx="603503" cy="3657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83496" y="3328416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  <a:latin typeface="Arial"/>
              </a:rPr>
              <a:t>465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314432" y="3273552"/>
            <a:ext cx="649224" cy="3657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351007" y="3328416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  <a:latin typeface="Arial"/>
              </a:rPr>
              <a:t>575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018520" y="3273552"/>
            <a:ext cx="1042415" cy="3657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055096" y="3328416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  <a:latin typeface="Arial"/>
              </a:rPr>
              <a:t>1,627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498079" y="3657600"/>
            <a:ext cx="310896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534655" y="3712463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  <a:latin typeface="Arial"/>
              </a:rPr>
              <a:t>6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863840" y="3657600"/>
            <a:ext cx="171907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900415" y="3712463"/>
            <a:ext cx="16824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Arial"/>
              </a:rPr>
              <a:t>Italy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646920" y="3657600"/>
            <a:ext cx="603503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683496" y="3712463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  <a:latin typeface="Arial"/>
              </a:rPr>
              <a:t>518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314432" y="3657600"/>
            <a:ext cx="64922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351007" y="3712463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  <a:latin typeface="Arial"/>
              </a:rPr>
              <a:t>474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1018520" y="3657600"/>
            <a:ext cx="104241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1055096" y="3712463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  <a:latin typeface="Arial"/>
              </a:rPr>
              <a:t>1,446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498079" y="4041648"/>
            <a:ext cx="310896" cy="3657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534655" y="4096511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  <a:latin typeface="Arial"/>
              </a:rPr>
              <a:t>7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863840" y="4041648"/>
            <a:ext cx="1719072" cy="3657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900415" y="4096511"/>
            <a:ext cx="16824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Arial"/>
              </a:rPr>
              <a:t>Australia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646920" y="4041648"/>
            <a:ext cx="603503" cy="3657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683496" y="4096511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  <a:latin typeface="Arial"/>
              </a:rPr>
              <a:t>342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314432" y="4041648"/>
            <a:ext cx="649224" cy="3657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351007" y="4096511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  <a:latin typeface="Arial"/>
              </a:rPr>
              <a:t>452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1018520" y="4041648"/>
            <a:ext cx="1042415" cy="3657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1055096" y="4096511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  <a:latin typeface="Arial"/>
              </a:rPr>
              <a:t>1,304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498079" y="4425696"/>
            <a:ext cx="310896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534655" y="448055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  <a:latin typeface="Arial"/>
              </a:rPr>
              <a:t>8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863840" y="4425696"/>
            <a:ext cx="171907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900415" y="4480559"/>
            <a:ext cx="16824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Arial"/>
              </a:rPr>
              <a:t>Hungary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646920" y="4425696"/>
            <a:ext cx="603503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683496" y="4480559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  <a:latin typeface="Arial"/>
              </a:rPr>
              <a:t>432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314432" y="4425696"/>
            <a:ext cx="64922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351007" y="4480559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  <a:latin typeface="Arial"/>
              </a:rPr>
              <a:t>328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1018520" y="4425696"/>
            <a:ext cx="104241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1055096" y="4480559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  <a:latin typeface="Arial"/>
              </a:rPr>
              <a:t>1,123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498079" y="4809744"/>
            <a:ext cx="310896" cy="3657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534655" y="4864607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  <a:latin typeface="Arial"/>
              </a:rPr>
              <a:t>9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863840" y="4809744"/>
            <a:ext cx="1719072" cy="3657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900415" y="4864607"/>
            <a:ext cx="16824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Arial"/>
              </a:rPr>
              <a:t>Sweden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646920" y="4809744"/>
            <a:ext cx="603503" cy="3657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683496" y="4864607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  <a:latin typeface="Arial"/>
              </a:rPr>
              <a:t>354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0314432" y="4809744"/>
            <a:ext cx="649224" cy="3657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0351007" y="4864607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  <a:latin typeface="Arial"/>
              </a:rPr>
              <a:t>396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1018520" y="4809744"/>
            <a:ext cx="1042415" cy="3657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1055096" y="4864607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  <a:latin typeface="Arial"/>
              </a:rPr>
              <a:t>1,108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498079" y="5193792"/>
            <a:ext cx="310896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534655" y="5248655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  <a:latin typeface="Arial"/>
              </a:rPr>
              <a:t>10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863840" y="5193792"/>
            <a:ext cx="171907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900415" y="5248655"/>
            <a:ext cx="16824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  <a:latin typeface="Arial"/>
              </a:rPr>
              <a:t>Netherlands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646920" y="5193792"/>
            <a:ext cx="603503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683496" y="5248655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  <a:latin typeface="Arial"/>
              </a:rPr>
              <a:t>245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0314432" y="5193792"/>
            <a:ext cx="64922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0351007" y="5248655"/>
            <a:ext cx="612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  <a:latin typeface="Arial"/>
              </a:rPr>
              <a:t>302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1018520" y="5193792"/>
            <a:ext cx="104241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1055096" y="5248655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22"/>
                </a:solidFill>
                <a:latin typeface="Arial"/>
              </a:rPr>
              <a:t>918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DF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Olympic Medals by Continent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371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Arial"/>
              </a:rPr>
              <a:t>Pillar 3 | NOCs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75120"/>
            <a:ext cx="10058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C757D"/>
                </a:solidFill>
                <a:latin typeface="Arial"/>
              </a:rPr>
              <a:t>CONFIDENTIAL  |  SportsFanatics Consulting Agency  |  LA 2028 Strategic Playbook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5486400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6480" y="960120"/>
            <a:ext cx="5806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F0024"/>
                </a:solidFill>
                <a:latin typeface="Arial"/>
              </a:rPr>
              <a:t>Continental Medal Summary (1948–2016)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426464"/>
            <a:ext cx="2295144" cy="310896"/>
          </a:xfrm>
          <a:prstGeom prst="rect">
            <a:avLst/>
          </a:prstGeom>
          <a:solidFill>
            <a:srgbClr val="DF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63056" y="1463040"/>
            <a:ext cx="22585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Continent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1426464"/>
            <a:ext cx="923544" cy="310896"/>
          </a:xfrm>
          <a:prstGeom prst="rect">
            <a:avLst/>
          </a:prstGeom>
          <a:solidFill>
            <a:srgbClr val="DF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0496" y="1463040"/>
            <a:ext cx="8869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Total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09760" y="1426464"/>
            <a:ext cx="969264" cy="310896"/>
          </a:xfrm>
          <a:prstGeom prst="rect">
            <a:avLst/>
          </a:prstGeom>
          <a:solidFill>
            <a:srgbClr val="DF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46336" y="1463040"/>
            <a:ext cx="93268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NOCs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61320" y="1426464"/>
            <a:ext cx="1243584" cy="310896"/>
          </a:xfrm>
          <a:prstGeom prst="rect">
            <a:avLst/>
          </a:prstGeom>
          <a:solidFill>
            <a:srgbClr val="DF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97896" y="1463040"/>
            <a:ext cx="1207007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Share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737360"/>
            <a:ext cx="2295144" cy="42976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1801368"/>
            <a:ext cx="2240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5C7"/>
                </a:solidFill>
                <a:latin typeface="Arial"/>
              </a:rPr>
              <a:t>Europe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03920" y="1737360"/>
            <a:ext cx="923544" cy="42976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1801368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15,512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1737360"/>
            <a:ext cx="969264" cy="42976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180136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49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61320" y="1737360"/>
            <a:ext cx="1243584" cy="42976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0" y="1801368"/>
            <a:ext cx="1188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59.2%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2194560"/>
            <a:ext cx="2295144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2258568"/>
            <a:ext cx="2240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F0024"/>
                </a:solidFill>
                <a:latin typeface="Arial"/>
              </a:rPr>
              <a:t>Americas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2194560"/>
            <a:ext cx="923544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9640" y="2258568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5,665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0" y="2194560"/>
            <a:ext cx="969264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55480" y="225856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28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561320" y="2194560"/>
            <a:ext cx="1243584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07040" y="2258568"/>
            <a:ext cx="1188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21.6%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2651760"/>
            <a:ext cx="2295144" cy="42976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2715768"/>
            <a:ext cx="2240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A000"/>
                </a:solidFill>
                <a:latin typeface="Arial"/>
              </a:rPr>
              <a:t>Asia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03920" y="2651760"/>
            <a:ext cx="923544" cy="42976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49640" y="2715768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2,940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09760" y="2651760"/>
            <a:ext cx="969264" cy="42976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55480" y="271576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30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561320" y="2651760"/>
            <a:ext cx="1243584" cy="42976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07040" y="2715768"/>
            <a:ext cx="1188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11.2%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3108960"/>
            <a:ext cx="2295144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72200" y="3172968"/>
            <a:ext cx="2240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Oceania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03920" y="3108960"/>
            <a:ext cx="923544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49640" y="3172968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1,495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509760" y="3108960"/>
            <a:ext cx="969264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55480" y="317296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561320" y="3108960"/>
            <a:ext cx="1243584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607040" y="3172968"/>
            <a:ext cx="1188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5.7%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26480" y="3566160"/>
            <a:ext cx="2295144" cy="42976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72200" y="3630168"/>
            <a:ext cx="2240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9F6B"/>
                </a:solidFill>
                <a:latin typeface="Arial"/>
              </a:rPr>
              <a:t>Africa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03920" y="3566160"/>
            <a:ext cx="923544" cy="42976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49640" y="3630168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514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509760" y="3566160"/>
            <a:ext cx="969264" cy="42976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55480" y="363016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27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561320" y="3566160"/>
            <a:ext cx="1243584" cy="42976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607040" y="3630168"/>
            <a:ext cx="1188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2.0%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26480" y="4023360"/>
            <a:ext cx="2295144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72200" y="4087368"/>
            <a:ext cx="2240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C757D"/>
                </a:solidFill>
                <a:latin typeface="Arial"/>
              </a:rPr>
              <a:t>Other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503920" y="4023360"/>
            <a:ext cx="923544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49640" y="4087368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61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09760" y="4023360"/>
            <a:ext cx="969264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555480" y="408736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561320" y="4023360"/>
            <a:ext cx="1243584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607040" y="4087368"/>
            <a:ext cx="1188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0.2%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DF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The Superpower Medal Race — USA vs China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371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Arial"/>
              </a:rPr>
              <a:t>Pillar 3 | NOCs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75120"/>
            <a:ext cx="10058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C757D"/>
                </a:solidFill>
                <a:latin typeface="Arial"/>
              </a:rPr>
              <a:t>CONFIDENTIAL  |  SportsFanatics Consulting Agency  |  LA 2028 Strategic Playbook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73152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55279" y="1005840"/>
            <a:ext cx="39776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 b="0">
                <a:solidFill>
                  <a:srgbClr val="222222"/>
                </a:solidFill>
                <a:latin typeface="Arial"/>
              </a:rPr>
              <a:t>🏅 LA 2028 Forecasts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222222"/>
                </a:solidFill>
                <a:latin typeface="Arial"/>
              </a:rPr>
              <a:t>• USA: 277 predicted medals (host advantage)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222222"/>
                </a:solidFill>
                <a:latin typeface="Arial"/>
              </a:rPr>
              <a:t>• China: 101 predicted medals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222222"/>
                </a:solidFill>
                <a:latin typeface="Arial"/>
              </a:rPr>
              <a:t/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222222"/>
                </a:solidFill>
                <a:latin typeface="Arial"/>
              </a:rPr>
              <a:t>⚡ Key Dynamics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222222"/>
                </a:solidFill>
                <a:latin typeface="Arial"/>
              </a:rPr>
              <a:t>• China debuted in 1984; grew to near-parity within 2 decades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222222"/>
                </a:solidFill>
                <a:latin typeface="Arial"/>
              </a:rPr>
              <a:t>• USA historically peaks strongly at home Games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222222"/>
                </a:solidFill>
                <a:latin typeface="Arial"/>
              </a:rPr>
              <a:t>• Geopolitical tension shapes NOC resource allocation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222222"/>
                </a:solidFill>
                <a:latin typeface="Arial"/>
              </a:rPr>
              <a:t>• Competition expected in aquatics, gymnastics, weightlifting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222222"/>
                </a:solidFill>
                <a:latin typeface="Arial"/>
              </a:rPr>
              <a:t/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222222"/>
                </a:solidFill>
                <a:latin typeface="Arial"/>
              </a:rPr>
              <a:t>🎯 Strategic Implication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222222"/>
                </a:solidFill>
                <a:latin typeface="Arial"/>
              </a:rPr>
              <a:t>• Both NOCs should focus on new 2028 sports to find medal edges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222222"/>
                </a:solidFill>
                <a:latin typeface="Arial"/>
              </a:rPr>
              <a:t>• Russia/Belarus absence creates redistribution of ~60–70 medals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"/>
              </a:rPr>
              <a:t>Medal Forecasting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37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AAAA"/>
                </a:solidFill>
                <a:latin typeface="Arial"/>
              </a:rPr>
              <a:t>Ensemble ML Predictions for LA 2028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519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  <a:latin typeface="Arial"/>
              </a:rPr>
              <a:t>Random Forest + Gradient Boosting  |  Leave-One-Games-Out CV  |  230 NOCs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4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Forecasting Model — Methodology &amp;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371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Arial"/>
              </a:rPr>
              <a:t>Forecasting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75120"/>
            <a:ext cx="10058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C757D"/>
                </a:solidFill>
                <a:latin typeface="Arial"/>
              </a:rPr>
              <a:t>CONFIDENTIAL  |  SportsFanatics Consulting Agency  |  LA 2028 Strategic Playbook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640080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40880" y="960120"/>
            <a:ext cx="4892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 b="0">
                <a:solidFill>
                  <a:srgbClr val="222222"/>
                </a:solidFill>
                <a:latin typeface="Arial"/>
              </a:rPr>
              <a:t>🤖 Model Architecture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222222"/>
                </a:solidFill>
                <a:latin typeface="Arial"/>
              </a:rPr>
              <a:t>• Ensemble: Random Forest (50%) + Gradient Boosting (50%)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222222"/>
                </a:solidFill>
                <a:latin typeface="Arial"/>
              </a:rPr>
              <a:t>• Training data: Summer Olympics 1984–2012 (panel structure)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222222"/>
                </a:solidFill>
                <a:latin typeface="Arial"/>
              </a:rPr>
              <a:t>• Features: lagged medals, rolling 3-game average, GDP per capita,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222222"/>
                </a:solidFill>
                <a:latin typeface="Arial"/>
              </a:rPr>
              <a:t>  population, host-nation indicator, sport diversity count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222222"/>
                </a:solidFill>
                <a:latin typeface="Arial"/>
              </a:rPr>
              <a:t>• Validation: Leave-One-Games-Out CV  →  MAE = 0.19 medals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222222"/>
                </a:solidFill>
                <a:latin typeface="Arial"/>
              </a:rPr>
              <a:t/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222222"/>
                </a:solidFill>
                <a:latin typeface="Arial"/>
              </a:rPr>
              <a:t>✅ Model Strengths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222222"/>
                </a:solidFill>
                <a:latin typeface="Arial"/>
              </a:rPr>
              <a:t>• Captures trajectory of rising and declining sporting powers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222222"/>
                </a:solidFill>
                <a:latin typeface="Arial"/>
              </a:rPr>
              <a:t>• Explicitly models home-nation advantage as a binary feature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222222"/>
                </a:solidFill>
                <a:latin typeface="Arial"/>
              </a:rPr>
              <a:t>• 90% prediction intervals provided for all 230 NOC forecasts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222222"/>
                </a:solidFill>
                <a:latin typeface="Arial"/>
              </a:rPr>
              <a:t/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222222"/>
                </a:solidFill>
                <a:latin typeface="Arial"/>
              </a:rPr>
              <a:t>⚠️  Known Limitations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222222"/>
                </a:solidFill>
                <a:latin typeface="Arial"/>
              </a:rPr>
              <a:t>• Russia/Belarus exclusion not directly modelled (scenario analysis separate)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222222"/>
                </a:solidFill>
                <a:latin typeface="Arial"/>
              </a:rPr>
              <a:t>• Cannot predict individual athlete injury or retirement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222222"/>
                </a:solidFill>
                <a:latin typeface="Arial"/>
              </a:rPr>
              <a:t>• GDP data approximate / estimated for smaller NOCs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4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LA 2028 Medal Predictions — Top 15 Nations &amp; Continental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371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Arial"/>
              </a:rPr>
              <a:t>Forecasting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75120"/>
            <a:ext cx="10058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C757D"/>
                </a:solidFill>
                <a:latin typeface="Arial"/>
              </a:rPr>
              <a:t>CONFIDENTIAL  |  SportsFanatics Consulting Agency  |  LA 2028 Strategic Playbook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6400800" cy="521208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914400"/>
            <a:ext cx="507492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"/>
              </a:rPr>
              <a:t>Strategic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37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AAAA"/>
                </a:solidFill>
                <a:latin typeface="Arial"/>
              </a:rPr>
              <a:t>Action Plans for Athletes, City Stakeholders &amp; NOCs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Strategic Recommendations — Three Stakeholder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371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Arial"/>
              </a:rPr>
              <a:t>All Pillars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75120"/>
            <a:ext cx="10058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C757D"/>
                </a:solidFill>
                <a:latin typeface="Arial"/>
              </a:rPr>
              <a:t>CONFIDENTIAL  |  SportsFanatics Consulting Agency  |  LA 2028 Strategic Playbook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868680"/>
            <a:ext cx="3886200" cy="438912"/>
          </a:xfrm>
          <a:prstGeom prst="rect">
            <a:avLst/>
          </a:prstGeom>
          <a:solidFill>
            <a:srgbClr val="008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🏃 Athletes &amp; Coaches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1389888"/>
            <a:ext cx="3886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00" b="0">
                <a:solidFill>
                  <a:srgbClr val="222222"/>
                </a:solidFill>
                <a:latin typeface="Arial"/>
              </a:rPr>
              <a:t>1. Leverage home crowd effect: simulate crowd noise and altitude in domestic training</a:t>
            </a:r>
          </a:p>
          <a:p>
            <a:pPr>
              <a:spcBef>
                <a:spcPts val="300"/>
              </a:spcBef>
            </a:pPr>
            <a:r>
              <a:rPr sz="900" b="0">
                <a:solidFill>
                  <a:srgbClr val="222222"/>
                </a:solidFill>
                <a:latin typeface="Arial"/>
              </a:rPr>
              <a:t>2. Target LA 2028 new sports early: flag football, cricket, lacrosse, squash</a:t>
            </a:r>
          </a:p>
          <a:p>
            <a:pPr>
              <a:spcBef>
                <a:spcPts val="300"/>
              </a:spcBef>
            </a:pPr>
            <a:r>
              <a:rPr sz="900" b="0">
                <a:solidFill>
                  <a:srgbClr val="222222"/>
                </a:solidFill>
                <a:latin typeface="Arial"/>
              </a:rPr>
              <a:t>3. Acclimatise to LA July heat: outdoor sports require heat/humidity protocols (avg 27°C)</a:t>
            </a:r>
          </a:p>
          <a:p>
            <a:pPr>
              <a:spcBef>
                <a:spcPts val="300"/>
              </a:spcBef>
            </a:pPr>
            <a:r>
              <a:rPr sz="900" b="0">
                <a:solidFill>
                  <a:srgbClr val="222222"/>
                </a:solidFill>
                <a:latin typeface="Arial"/>
              </a:rPr>
              <a:t>4. Physical profiling: athletes outside sport-specific BMI norms → 40% lower medal rates</a:t>
            </a:r>
          </a:p>
          <a:p>
            <a:pPr>
              <a:spcBef>
                <a:spcPts val="300"/>
              </a:spcBef>
            </a:pPr>
            <a:r>
              <a:rPr sz="900" b="0">
                <a:solidFill>
                  <a:srgbClr val="222222"/>
                </a:solidFill>
                <a:latin typeface="Arial"/>
              </a:rPr>
              <a:t>5. Multi-event strategy: two-event athletes show meaningfully higher total medal probability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3672" y="868680"/>
            <a:ext cx="3886200" cy="438912"/>
          </a:xfrm>
          <a:prstGeom prst="rect">
            <a:avLst/>
          </a:prstGeom>
          <a:solidFill>
            <a:srgbClr val="009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🏙️ City of 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33672" y="1389888"/>
            <a:ext cx="3886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00" b="0">
                <a:solidFill>
                  <a:srgbClr val="222222"/>
                </a:solidFill>
                <a:latin typeface="Arial"/>
              </a:rPr>
              <a:t>1. Market the LA 1984 legacy: position city as the fiscally-responsible, profitable Games host</a:t>
            </a:r>
          </a:p>
          <a:p>
            <a:pPr>
              <a:spcBef>
                <a:spcPts val="300"/>
              </a:spcBef>
            </a:pPr>
            <a:r>
              <a:rPr sz="900" b="0">
                <a:solidFill>
                  <a:srgbClr val="222222"/>
                </a:solidFill>
                <a:latin typeface="Arial"/>
              </a:rPr>
              <a:t>2. Activate the entertainment ecosystem: Hollywood, streaming, gaming = differentiated sponsorship</a:t>
            </a:r>
          </a:p>
          <a:p>
            <a:pPr>
              <a:spcBef>
                <a:spcPts val="300"/>
              </a:spcBef>
            </a:pPr>
            <a:r>
              <a:rPr sz="900" b="0">
                <a:solidFill>
                  <a:srgbClr val="222222"/>
                </a:solidFill>
                <a:latin typeface="Arial"/>
              </a:rPr>
              <a:t>3. Mobility solutions: 15 venues across LA require real-time transport integration</a:t>
            </a:r>
          </a:p>
          <a:p>
            <a:pPr>
              <a:spcBef>
                <a:spcPts val="300"/>
              </a:spcBef>
            </a:pPr>
            <a:r>
              <a:rPr sz="900" b="0">
                <a:solidFill>
                  <a:srgbClr val="222222"/>
                </a:solidFill>
                <a:latin typeface="Arial"/>
              </a:rPr>
              <a:t>4. Legacy planning: convert athlete villages to affordable housing (follow Paris 2024 model)</a:t>
            </a:r>
          </a:p>
          <a:p>
            <a:pPr>
              <a:spcBef>
                <a:spcPts val="300"/>
              </a:spcBef>
            </a:pPr>
            <a:r>
              <a:rPr sz="900" b="0">
                <a:solidFill>
                  <a:srgbClr val="222222"/>
                </a:solidFill>
                <a:latin typeface="Arial"/>
              </a:rPr>
              <a:t>5. Sustainability branding: target carbon-neutral Games to attract ESG-aligned global sponsors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11311" y="868680"/>
            <a:ext cx="3886200" cy="438912"/>
          </a:xfrm>
          <a:prstGeom prst="rect">
            <a:avLst/>
          </a:prstGeom>
          <a:solidFill>
            <a:srgbClr val="DF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39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🌍 National Olympic Committees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1" y="1389888"/>
            <a:ext cx="3886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00" b="0">
                <a:solidFill>
                  <a:srgbClr val="222222"/>
                </a:solidFill>
                <a:latin typeface="Arial"/>
              </a:rPr>
              <a:t>1. USA: invest in marginal individual sports — target extra 5–10 Gold via home advantage</a:t>
            </a:r>
          </a:p>
          <a:p>
            <a:pPr>
              <a:spcBef>
                <a:spcPts val="300"/>
              </a:spcBef>
            </a:pPr>
            <a:r>
              <a:rPr sz="900" b="0">
                <a:solidFill>
                  <a:srgbClr val="222222"/>
                </a:solidFill>
                <a:latin typeface="Arial"/>
              </a:rPr>
              <a:t>2. Africa NOCs: cricket &amp; squash represent first realistic Gold medal opportunities since 1984</a:t>
            </a:r>
          </a:p>
          <a:p>
            <a:pPr>
              <a:spcBef>
                <a:spcPts val="300"/>
              </a:spcBef>
            </a:pPr>
            <a:r>
              <a:rPr sz="900" b="0">
                <a:solidFill>
                  <a:srgbClr val="222222"/>
                </a:solidFill>
                <a:latin typeface="Arial"/>
              </a:rPr>
              <a:t>3. Rising Asia (India, Indonesia, Vietnam): GDP growth → fund athletics infrastructure now</a:t>
            </a:r>
          </a:p>
          <a:p>
            <a:pPr>
              <a:spcBef>
                <a:spcPts val="300"/>
              </a:spcBef>
            </a:pPr>
            <a:r>
              <a:rPr sz="900" b="0">
                <a:solidFill>
                  <a:srgbClr val="222222"/>
                </a:solidFill>
                <a:latin typeface="Arial"/>
              </a:rPr>
              <a:t>4. European NOCs: defend medal share — Asia is closing the gap in aquatics and track &amp; field</a:t>
            </a:r>
          </a:p>
          <a:p>
            <a:pPr>
              <a:spcBef>
                <a:spcPts val="300"/>
              </a:spcBef>
            </a:pPr>
            <a:r>
              <a:rPr sz="900" b="0">
                <a:solidFill>
                  <a:srgbClr val="222222"/>
                </a:solidFill>
                <a:latin typeface="Arial"/>
              </a:rPr>
              <a:t>5. All NOCs: Russia/Belarus absence creates a redistribution of 60–70 medals — strategic chance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85C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0"/>
            <a:ext cx="12188952" cy="384048"/>
          </a:xfrm>
          <a:prstGeom prst="rect">
            <a:avLst/>
          </a:prstGeom>
          <a:solidFill>
            <a:srgbClr val="F4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13248"/>
            <a:ext cx="12188952" cy="384048"/>
          </a:xfrm>
          <a:prstGeom prst="rect">
            <a:avLst/>
          </a:prstGeom>
          <a:solidFill>
            <a:srgbClr val="009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797296"/>
            <a:ext cx="12188952" cy="384048"/>
          </a:xfrm>
          <a:prstGeom prst="rect">
            <a:avLst/>
          </a:prstGeom>
          <a:solidFill>
            <a:srgbClr val="DF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4C300"/>
                </a:solidFill>
                <a:latin typeface="Arial"/>
              </a:rPr>
              <a:t>SportsFanatics Consulting Agency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DEE"/>
                </a:solidFill>
                <a:latin typeface="Arial"/>
              </a:rPr>
              <a:t>LA 2028 Olympic Games Strategic Playbook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58768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BBCC"/>
                </a:solidFill>
                <a:latin typeface="Arial"/>
              </a:rPr>
              <a:t>Prepared by: Shabeeb  |  Senior Statistical Programmer  |  March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492240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CC"/>
                </a:solidFill>
                <a:latin typeface="Arial"/>
              </a:rPr>
              <a:t>CONFIDENTIAL — For internal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